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espera com a arte do IV Congresso Científico. Deixe na tela enquanto a turma chega e se acomoda. Quando for começar, avance para a capa da palestra.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 da palestra (o slide anterior, com a arte do congresso, fica na tela enquanto a turma chega). Quando começar: boa noite, agradeça a presença e o convite para o IV Congresso Científico, e diga que nos próximos 90 minutos vocês vão sair daqui sabendo de onde a IA veio, como ela funciona, como conversar bem com ela e, principalmente, o que ela muda na carreira de vocês. Avise que vai ter hands-on ao vivo e um bônus no final para quem ficar até 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Apresente-se rápido e de forma pessoal. Sugestão de fala: "Eu trabalho com dados há mais de seis anos. Hoje estou no Fundo Nacional de Saúde, e uso IA praticamente todo dia, tanto no trabalho quanto nos estudos. E aqui no curso vocês me conhecem como mediador." Conte em uma frase como a IA entrou na sua rotina (ex.: o primeiro dia em que ela te poupou horas de trabalho). Não leia os cards: eles são só apoio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Gancho com a plateia. Peça para levantarem a mão e comente o resultado ("metade da sala, mais ou menos"). Em seguida pergunte: "E quem usou IA hoje sem perceber?" Espere alguns segundos. Revele: "Na verdade todo mundo aqui usou. Se você abriu o Instagram, pegou um Uber, desbloqueou o celular com o rosto ou recebeu um alerta do banco, tinha IA ali." Feche com: "Hoje a gente vai entender de onde isso veio e para onde vai." Avance para a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Passe rápido pela trilha. Destaque duas coisas: o hands-on ao vivo, em que alguém da plateia vai sair com um portfólio pronto, e o bônus no final, que só quem ficar até o fim vai receber. Isso segura a turma até o último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 min] Conte como uma história, não como lista de datas. Roteiro: "Em 1950, Alan Turing fez uma pergunta simples: as máquinas podem pensar? Seis anos depois, num encontro em Dartmouth, nos Estados Unidos, um grupo de pesquisadores batizou essa área de Inteligência Artificial, e achava que resolveria tudo em poucos anos. Não resolveu. Vieram os invernos da IA: as promessas não se cumpriram e o dinheiro sumiu. Em 1997 a IA volta às manchetes quando o Deep Blue vence o Kasparov no xadrez. Em 2012 uma rede neural chamada AlexNet, treinada em placas de vídeo (as mesmas dos games), mostra que o deep learning funciona de verdade. Em 2017 o Google publica o Transformer, a arquitetura que está por trás do ChatGPT, do Claude e do Gemini. Em 2022 o ChatGPT é lançado e todo mundo passa a usar IA. E agora estamos na era dos agentes: a IA não só responde, ela executa tarefas." Os dois cards em azul marcam o que vocês estão vivendo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Frase de transição. "Reparem: a ideia não é nova. O que aconteceu nos últimos anos foi a junção de três coisas: a internet gerou dados como nunca, as GPUs deixaram a computação barata e o Transformer trouxe um algoritmo muito melhor. Juntou tudo e deu nisso que a gente vê hoje." Gancho para o próximo bloco: "Mas afinal, o que é IA, machine learning, deep learning? Vamos organizar essa sopa de letrinhas."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Explique de fora para dentro. "IA é o guarda-chuva: qualquer sistema que imita algo que a gente faria com inteligência. Dentro dela está o Machine Learning: em vez de programar as regras com if e else, a gente mostra milhares de exemplos e o sistema aprende o padrão. O filtro de spam é o exemplo clássico. Dentro do ML está o Deep Learning, que usa redes neurais com muitas camadas, e foi o que destravou reconhecimento de imagem e de voz. E dentro dele está a IA Generativa, que não só classifica: ela cria coisas novas. É aqui que moram os LLMs, como o ChatGPT e o Claude." Pergunta rápida para a turma: "O filtro de spam do Gmail fica em qual camada?" (Machine Learning.)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A ideia central: um LLM é um "autocompletar" gigante e muito sofisticado. "Ele foi treinado lendo uma quantidade absurda de texto e aprendeu uma coisa: dado um começo de frase, qual a palavra mais provável que vem depois. Ele faz isso palavra por palavra (tecnicamente, token por token) até montar a resposta inteira." Mostre o exemplo: a palavra mais provável é Brasília. Ponto importante para o bloco de riscos: "Ele não consulta um banco de dados de verdades. Ele gera o que é provável. Por isso às vezes inventa coisas com muita confiança, o que chamamos de alucinação." O exemplo é ilustrativo, não são probabilidades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"No começo a IA era um chat: você pergunta, ela responde, e o trabalho de copiar, colar e testar é todo seu. Depois vieram os copilotos, que ficam dentro do editor sugerindo o próximo trecho de código. Agora estamos na era dos agentes: você dá um objetivo, tipo 'crie uma página de portfólio', e ele planeja, cria arquivos, roda comandos, testa e corrige sozinho. Você vira o gestor e o revisor." Gere expectativa: "No hands-on vocês vão ver isso acontecendo na tela."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"Agora que vocês sabem como a IA funciona, a pergunta é: como tirar o melhor dela? Duas pessoas usando a mesma ferramenta podem ter resultados completamente diferentes. A diferença está no pedido. Lembram que o LLM gera o que é mais provável? Quanto mais contexto você dá, mais o provável vira o que você quer." Faça a analogia: "É como pedir um lanche. 'Me vê um lanche' é uma coisa. 'Um X-salada sem cebola, bem passado, com batata' é outra."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Este é o slide mais importante do bloco: peça para tirarem foto. Passe pelas 5 partes com calma. "Papel: diga quem a IA deve ser. Um professor explica diferente de um recrutador. Contexto: quem é você e qual a situação. Tarefa: o que exatamente você quer. Formato: lista, tabela, código, passo a passo? Restrições: o que ela não deve fazer." Reforce: não precisa usar as 5 partes sempre, mas quanto mais completas, melhor o resultado. Avise: "Vocês vão ver essa estrutura de novo no hands-on."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Leia os dois prompts em voz alta. Pergunte: "Qual dos dois vocês acham que dá a melhor resposta?" Depois aponte no prompt estruturado onde está cada parte da anatomia: papel (professor), contexto (2º semestre, prova na sexta), tarefa (explicar normalização), formato (tabela antes e depois) e restrições (linguagem simples, 15 linhas). Se tiver tempo e internet, rode os dois no celular ou notebook e mostre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Explique cada técnica com um exemplo rápido. Dê exemplos: "Se quer questões no estilo do seu professor, cole uma questão de prova antiga como modelo." Passo a passo: "Antes de responder, pense passo a passo" melhora muito problemas de lógica e matemática. Divida a tarefa: "Não peça um sistema de biblioteca completo de uma vez. Peça o modelo do banco, depois a API, depois as telas." Converse e itere: "Prompt não é oração que você faz uma vez e espera o milagre. É conversa." Feche: "No final da palestra vocês vão ganhar uma biblioteca com prompts prontos que já usam tudo isso."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[~3,5 min] Não precisa explicar ferramenta por ferramenta. Pergunte: "Quem aqui já usou alguma dessas? Qual?" e comente as respostas. Dê destaque a duas linhas: Código (é o que vocês vão ver no hands-on com o Claude Code) e Automação (n8n e similares estão sendo muito pedidos em vagas). Se usar alguma no seu trabalho com dados, conte rapidamente como. Mensagem final: "Daqui a um ano metade desses nomes pode ter mudado. O que não muda é saber qual tipo de ferramenta usar para qual problema."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Dados da maior pesquisa anual com desenvolvedores do mundo. "84% dos devs já usam ou vão usar IA. Mas olhem o paradoxo: quase metade não confia no que ela entrega, e 45% dizem que corrigir código gerado por IA dá trabalho. A confiança na precisão da IA caiu de um ano para o outro." Conclusão: "Usar IA virou o básico. O diferencial é saber revisar o que ela entrega. E para revisar, vocês precisam saber programar." Gancho: "Mas a IA não está só no trabalho do dev. Ela está no dia a dia de todo mundo."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Volte ao gancho do começo: "Lembram que eu disse que todo mundo usou IA hoje? Aqui está a prova." Passe rápido pelos exemplos e pergunte qual deles surpreendeu mais. Este slide é rápido; o tempo maior do bloco vai para os seus exemplos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Cerca de 50 segundos por exemplo: o problema, como a IA ajudou e o que você ainda precisou fazer. Exemplo 1, tuning de SQL legado: "Quando cheguei, já existiam consultas antigas, sem documentação, que demoravam para rodar. Eu uso a IA para três coisas: entender o que a consulta faz, encontrar os gargalos (subconsultas repetidas, falta de índice, função no WHERE, SELECT *) e sugerir uma versão reescrita. Mas a IA não decide nada sozinha: eu confiro se o resultado é exatamente o mesmo, comparo o plano de execução antes e depois e meço o tempo." Se tiver um número real, cite: "uma consulta que levava [X] passou a levar [Y]". Ponto importante: "Eu nunca colo dados da empresa. Mando só a estrutura das tabelas e a consulta." Exemplo 2, painéis no Qlik Sense: "Uso para escrever e otimizar expressões e scripts de carga, e para investigar quando um número do painel não bate com a origem. Também peço ajuda para documentar as regras de negócio dos indicadores." Reforce: no setor público, dados reais nunca vão para a IA; use dados fictícios ou só a estrutura. Isso é LGPD na prática. Exemplo 3, esta palestra (momento revelação): "E sabe esta palestra que vocês estão vendo? Eu preparei com IA. A trilha, a pesquisa dos dados, os slides e o bônus que vocês vão ganhar no final. Mas cada assunto, cada ordem e cada exemplo foi decisão minha. A IA trabalhou, eu dirigi." Gancho para o hands-on: "Agora chega de falar. Vamos ver isso funcionando."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min no total] Siga o arquivo roteiro-hands-on-portfolio.md, que tem os prompts prontos para copiar. Mostre este slide por 30 segundos explicando as 3 rodadas e relembrando a anatomia do prompt. Depois troque para o terminal com o Claude Code. Rodada 1 (8 min): prompt vago "faz um site de portfólio", depois o prompt estruturado, e compare. Rodada 2 (12 min): chame o voluntário e use o próximo slide com as 5 perguntas. Rodada 3 (10 min): a turma pede melhorias; depois de 2 ou 3 pedidos, peça para o Claude Code explicar o que mudou. Fala de fechamento: "A IA escreveu o código. Quem decidiu, deu contexto, revisou e pediu ajustes fomos nós." Plano B se a internet cair: pasta portfolio-pronto do ensaio.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[Rodada 2, 12 min] "Quem quer sair daqui hoje com um portfólio?" Chame o voluntário para a frente, deixe este slide na tela e faça as 4 perguntas em voz alta. Anote as respostas e cole no prompt-modelo da Rodada 2 do roteiro. Só primeiro nome: nada de telefone, e-mail ou foto no telão. Se ninguém se oferecer, criem juntos um personagem fictício com a turma escolhendo as respostas. Ao final, peça uma salva de palmas para o voluntário.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 min] Este bloco gera debate: aproveite. Vantagens (2 min): conecte com o que viram no hands-on: "Em 30 minutos fizemos o que levaria um dia." Riscos (4 min), com exemplos: Alucinação: a IA pode inventar uma função que não existe numa biblioteca, ou citar uma lei que não existe. Viés: se os dados de treino têm preconceito, a IA reproduz. Privacidade: nunca colem dados pessoais de clientes, senhas ou código sigiloso da empresa numa IA pública; no setor público isso é ainda mais sério (LGPD). Dependência: "Se vocês usarem a IA para fazer a atividade em vez de aprender, quem fica para trás são vocês." Energia: data centers de IA consomem muita energia e água para refrigeração. Pergunta para a turma (1 min): "Qual desses riscos preocupa mais vocês?"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Pausa dramática antes de falar. "Se o código que a IA gerou derrubar o sistema da empresa, ninguém vai culpar a IA. Vão perguntar quem aprovou." Conecte com os dados do Stack Overflow: quase metade dos devs não confia na precisão da IA, e com razão. "Nunca coloquem em produção um código que vocês não entendem. Se não entendeu, peça para a IA explicar até entender." Gancho para carreira: "E isso nos leva à pergunta que todo mundo aqui quer fazer: e o meu emprego?"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Comece pela pergunta que está na cabeça de todos: "A IA vai roubar meu emprego?" Resposta honesta: "Algumas funções vão diminuir, sim. O Fórum Econômico Mundial estima 92 milhões de empregos eliminados até 2030. Mas estima 170 milhões criados, um saldo de 78 milhões a mais. O problema é que os empregos novos pedem habilidades diferentes: cerca de 40% do que o mercado exige vai mudar." Traga para o Brasil: "Aqui, 68% dos profissionais de TI já usam IA no trabalho e a maioria não vê como ameaça. Quem está com medo geralmente é quem ainda não usa." Mensagem: o risco não é a IA, é ficar 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Seja prático e use sua experiência. Base sólida: "A IA erra, e só percebe o erro quem conhece a base. No meu trabalho com dados, SQL continua sendo o que mais uso, com ou sem IA." IA bem usada: tudo o que viram em engenharia de prompt. Portfólio: lembre do voluntário: "Ele saiu com um portfólio, mas os projetos estavam como 'em breve'. Agora é com ele." Lado humano: "A IA não vai na reunião entender o que o cliente precisa. Quem entende o problema de negócio é você." Dica concreta: escolham um projeto pequeno e coloquem no GitHub ainda este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Mensagem principal da palestra. Fale devagar. "A IA veio de uma pergunta feita em 1950, hoje está no bolso de cada um de vocês, e para onde ela leva a carreira de vocês depende de uma coisa: se vocês vão ser passageiros ou pilotos. Quem pilota entende a base, sabe pedir, sabe revisar e sabe para onde quer ir." Respire e avance para o bônus.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"Prometi um bônus para quem ficasse até o fim." Deixe o QR code na tela tempo suficiente para todos escanearem (uns 60 segundos) e confirme: "Todo mundo conseguiu abrir?" Explique rápido: "São prompts que usam tudo o que vimos hoje. Tem prompt para virar a IA no seu professor particular, para treinar SQL, simular entrevista de emprego. É só copiar e trocar o que está entre colchetes." Desafio: "Escolham um prompt e usem ainda esta semana para estudar uma matéria do curso." Antes da palestra, escaneie o QR em um celular para garantir que a página abre. A biblioteca também está no seu GitHub: vale comentar que é um projeto publicado no GitHub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 min] Abra para perguntas. Se ninguém começar, quebre o gelo com uma pergunta sua: "Quem aqui vai usar um prompt da biblioteca ainda esta semana?" ou "Qual foi a parte que mais surpreendeu vocês?" Perguntas prováveis e respostas curtas: "Qual IA é a melhor?" Depende da tarefa; testem mais de uma. "Vale a pena ainda estudar programação?" Mais do que nunca: quem revisa o código da IA precisa saber programar. "Por onde começo?" Pela biblioteca de prompts e por um projeto pequeno no GitHub. Encerre agradecendo a faculdade, a coordenação do congresso e a turma, e convide todos a se conectarem com você no LinkedIn.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81"/>
            <a:ext cx="10566400" cy="410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81"/>
            <a:ext cx="10566400" cy="410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abrielscientist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V Congresso Científico da Faculdade Anhanguera Asa Norte: Conhecimento que transforma, ciência, inovação e compromisso com a sociedade">    </p:cNvPr>
          <p:cNvPicPr>
            <a:picLocks noChangeAspect="1"/>
          </p:cNvPicPr>
          <p:nvPr/>
        </p:nvPicPr>
        <p:blipFill>
          <a:blip r:embed="rId1"/>
          <a:srcRect l="-54" r="-54" t="0" b="0"/>
          <a:stretch/>
        </p:blipFill>
        <p:spPr>
          <a:xfrm>
            <a:off x="1511300" y="812800"/>
            <a:ext cx="91694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os decorativos nas cores do congres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9000" y="1397000"/>
            <a:ext cx="4064000" cy="406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8040" y="2730500"/>
            <a:ext cx="4185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812800" y="909955"/>
            <a:ext cx="508000" cy="19050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5" name="Text 2"/>
          <p:cNvSpPr/>
          <p:nvPr/>
        </p:nvSpPr>
        <p:spPr>
          <a:xfrm>
            <a:off x="1473200" y="812800"/>
            <a:ext cx="710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472724"/>
            <a:ext cx="642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PALESTRA · ANÁLISE E DESENVOLVIMENTO DE SISTEMAS</a:t>
            </a:r>
            <a:endParaRPr lang="en-US" sz="1200" dirty="0"/>
          </a:p>
        </p:txBody>
      </p:sp>
      <p:sp>
        <p:nvSpPr>
          <p:cNvPr id="7" name="Text 4"/>
          <p:cNvSpPr/>
          <p:nvPr>
            <p:ph type="title"/>
          </p:nvPr>
        </p:nvSpPr>
        <p:spPr>
          <a:xfrm>
            <a:off x="812800" y="1889284"/>
            <a:ext cx="6278880" cy="2439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IA: de onde veio, onde está e para onde leva a sua </a:t>
            </a:r>
            <a:r>
              <a:rPr lang="en-US" sz="4400" b="1" i="0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carreira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12800" y="4547712"/>
            <a:ext cx="2705100" cy="1905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9" name="Shape 6"/>
          <p:cNvSpPr/>
          <p:nvPr/>
        </p:nvSpPr>
        <p:spPr>
          <a:xfrm>
            <a:off x="3619500" y="4506437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10" name="Shape 7"/>
          <p:cNvSpPr/>
          <p:nvPr/>
        </p:nvSpPr>
        <p:spPr>
          <a:xfrm>
            <a:off x="3822700" y="4547712"/>
            <a:ext cx="2705100" cy="19050"/>
          </a:xfrm>
          <a:prstGeom prst="rect">
            <a:avLst/>
          </a:prstGeom>
          <a:solidFill>
            <a:srgbClr val="14285A"/>
          </a:solidFill>
          <a:ln/>
        </p:spPr>
      </p:sp>
      <p:sp>
        <p:nvSpPr>
          <p:cNvPr id="11" name="Text 8"/>
          <p:cNvSpPr/>
          <p:nvPr/>
        </p:nvSpPr>
        <p:spPr>
          <a:xfrm>
            <a:off x="812800" y="50546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Mediador Pedagógico Gabriel Ribeiro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2800" y="54965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Engenheiro de Dados &amp; Fullstack | Python · IA · RPA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de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00 · ABERTURA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falando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1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6+ anos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880" y="279654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trabalhando como engenheiro de dados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5375" y="212915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280" y="2385061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Fundo Nacional de Saúde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31280" y="279654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Analista de TI no Ministério da Saúde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975" y="349567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1880" y="3751580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1880" y="416306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Mediador pedagógico aqui no curso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5375" y="3495675"/>
            <a:ext cx="5200650" cy="1207770"/>
          </a:xfrm>
          <a:prstGeom prst="roundRect">
            <a:avLst>
              <a:gd name="adj" fmla="val 8149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1280" y="3751580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e IA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1280" y="4163061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Pós-graduação em andamento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306320"/>
            <a:ext cx="91567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aqui usou IA hoje?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16052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Levanta a mão.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00 · ABERTURA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caminho de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666367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252982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9040" y="2252982"/>
            <a:ext cx="148799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História da 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2666367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2252982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252982"/>
            <a:ext cx="31592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Hands-on com Claude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209924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796539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9040" y="2796539"/>
            <a:ext cx="22583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Evolução e conceitos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09924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2796539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796539"/>
            <a:ext cx="29387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Vantagens x desvantagens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3753485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340100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9040" y="3340100"/>
            <a:ext cx="242830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Engenharia de prompt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0" y="3753485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0" y="3340100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340100"/>
            <a:ext cx="176374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 a sua carreira?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" y="4297046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3883661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9040" y="3883661"/>
            <a:ext cx="200758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Ferramentas de IA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0" y="4297046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0" y="3883661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09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3883661"/>
            <a:ext cx="205578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Bônus e perguntas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800" y="4840606"/>
            <a:ext cx="52832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800" y="4427221"/>
            <a:ext cx="2946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9040" y="4427221"/>
            <a:ext cx="15500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IA no dia a dia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HISTÓRIA DA 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Turing aos agentes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7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334261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1080" y="27457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Alan Turing pergunta: as máquinas podem pensar?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2129157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0780" y="2334261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1956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0780" y="27457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Conferência de Dartmouth cria o termo Inteligência Artificial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75" y="2129157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2334261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Anos 70 e 80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80480" y="2745739"/>
            <a:ext cx="217406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Os invernos da IA: muita promessa, pouco resultado e cortes de verba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5075" y="2129157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0180" y="2334261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60180" y="2745739"/>
            <a:ext cx="217406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Deep Blue, da IBM, vence o campeão mundial de xadrez Garry Kasparov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975" y="3749675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080" y="3954782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1080" y="4366261"/>
            <a:ext cx="217406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AlexNet mostra o poder do deep learning treinado em GPUs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5675" y="3749675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0780" y="3954782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00780" y="4366261"/>
            <a:ext cx="217406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Google apresenta o Transformer, a base de todos os LLMs atuais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5375" y="3749675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14285A"/>
          </a:solidFill>
          <a:ln w="6350">
            <a:solidFill>
              <a:srgbClr val="142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480" y="3954782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80480" y="4366261"/>
            <a:ext cx="217406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ChatGPT é lançado e a IA generativa vira assunto mundial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55075" y="3749675"/>
            <a:ext cx="2520950" cy="1461770"/>
          </a:xfrm>
          <a:prstGeom prst="roundRect">
            <a:avLst>
              <a:gd name="adj" fmla="val 6733"/>
            </a:avLst>
          </a:prstGeom>
          <a:solidFill>
            <a:srgbClr val="14285A"/>
          </a:solidFill>
          <a:ln w="6350">
            <a:solidFill>
              <a:srgbClr val="1428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0180" y="3954782"/>
            <a:ext cx="217406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e 2026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60180" y="436626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Era dos agentes: a IA passa a executar tarefas sozinha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099311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ideia tem mais de 70 anos.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004311"/>
            <a:ext cx="9156700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que mudou foi a combinação de </a:t>
            </a:r>
            <a:r>
              <a:rPr lang="en-US" sz="220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muitos dados</a:t>
            </a: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220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computação barata</a:t>
            </a: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 </a:t>
            </a:r>
            <a:r>
              <a:rPr lang="en-US" sz="220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algoritmos melhores</a:t>
            </a: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· EVOLUÇÃO E CONCEITOS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dentro da outra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7"/>
            <a:ext cx="10560050" cy="2945130"/>
          </a:xfrm>
          <a:prstGeom prst="roundRect">
            <a:avLst>
              <a:gd name="adj" fmla="val 5067"/>
            </a:avLst>
          </a:prstGeom>
          <a:solidFill>
            <a:srgbClr val="FFF3EB"/>
          </a:solidFill>
          <a:ln w="6350">
            <a:solidFill>
              <a:srgbClr val="FFD9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308861"/>
            <a:ext cx="105066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Inteligência Artificial: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máquinas que imitam capacidades humanas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95680" y="2720339"/>
            <a:ext cx="10200640" cy="2174240"/>
          </a:xfrm>
          <a:prstGeom prst="roundRect">
            <a:avLst>
              <a:gd name="adj" fmla="val 5841"/>
            </a:avLst>
          </a:prstGeom>
          <a:solidFill>
            <a:srgbClr val="FFD9C2"/>
          </a:solidFill>
          <a:ln/>
        </p:spPr>
      </p:sp>
      <p:sp>
        <p:nvSpPr>
          <p:cNvPr id="8" name="Text 6"/>
          <p:cNvSpPr/>
          <p:nvPr/>
        </p:nvSpPr>
        <p:spPr>
          <a:xfrm>
            <a:off x="1173480" y="2898139"/>
            <a:ext cx="1014039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Machine Learning: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aprende padrões com dados, sem regras fixas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73480" y="3309621"/>
            <a:ext cx="9845040" cy="1407160"/>
          </a:xfrm>
          <a:prstGeom prst="roundRect">
            <a:avLst>
              <a:gd name="adj" fmla="val 7220"/>
            </a:avLst>
          </a:prstGeom>
          <a:solidFill>
            <a:srgbClr val="F9A774"/>
          </a:solidFill>
          <a:ln/>
        </p:spPr>
      </p:sp>
      <p:sp>
        <p:nvSpPr>
          <p:cNvPr id="10" name="Text 8"/>
          <p:cNvSpPr/>
          <p:nvPr/>
        </p:nvSpPr>
        <p:spPr>
          <a:xfrm>
            <a:off x="1351280" y="3487421"/>
            <a:ext cx="977412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Deep Learning: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redes neurais com muitas camadas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1280" y="3898900"/>
            <a:ext cx="9489440" cy="640080"/>
          </a:xfrm>
          <a:prstGeom prst="roundRect">
            <a:avLst>
              <a:gd name="adj" fmla="val 11905"/>
            </a:avLst>
          </a:prstGeom>
          <a:solidFill>
            <a:srgbClr val="14285A"/>
          </a:solidFill>
          <a:ln/>
        </p:spPr>
        <p:txBody>
          <a:bodyPr wrap="square" lIns="155482" tIns="155482" rIns="0" bIns="13008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IA Generativa:</a:t>
            </a: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cria texto, código e imagens. Aqui moram os LLMs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· EVOLUÇÃO E CONCEITOS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um LLM funciona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4"/>
            <a:ext cx="3414157" cy="1370330"/>
          </a:xfrm>
          <a:prstGeom prst="roundRect">
            <a:avLst>
              <a:gd name="adj" fmla="val 718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4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· Treino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2674621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Lê trilhões de palavras de livros, sites e código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882" y="2129154"/>
            <a:ext cx="3414157" cy="1370330"/>
          </a:xfrm>
          <a:prstGeom prst="roundRect">
            <a:avLst>
              <a:gd name="adj" fmla="val 718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4787" y="2385064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Previsão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4787" y="2674621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Aprende a prever a próxima palavra de um texto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61789" y="2129154"/>
            <a:ext cx="3414157" cy="1370330"/>
          </a:xfrm>
          <a:prstGeom prst="roundRect">
            <a:avLst>
              <a:gd name="adj" fmla="val 7183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7694" y="2385064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Ajuste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7694" y="2674621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É refinado com feedback humano para ser útil e seguro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3858264"/>
            <a:ext cx="10566400" cy="1234440"/>
          </a:xfrm>
          <a:prstGeom prst="roundRect">
            <a:avLst>
              <a:gd name="adj" fmla="val 8230"/>
            </a:avLst>
          </a:prstGeom>
          <a:solidFill>
            <a:srgbClr val="1428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112264"/>
            <a:ext cx="10360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BF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"A capital do Brasil é ___"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4523742"/>
            <a:ext cx="2489200" cy="314960"/>
          </a:xfrm>
          <a:prstGeom prst="roundRect">
            <a:avLst>
              <a:gd name="adj" fmla="val 16129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Brasília · muito provável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8400" y="4523742"/>
            <a:ext cx="2032000" cy="314960"/>
          </a:xfrm>
          <a:prstGeom prst="roundRect">
            <a:avLst>
              <a:gd name="adj" fmla="val 16129"/>
            </a:avLst>
          </a:prstGeom>
          <a:solidFill>
            <a:srgbClr val="2C438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uma · pouco provável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2800" y="4523742"/>
            <a:ext cx="1300480" cy="314960"/>
          </a:xfrm>
          <a:prstGeom prst="roundRect">
            <a:avLst>
              <a:gd name="adj" fmla="val 16129"/>
            </a:avLst>
          </a:prstGeom>
          <a:solidFill>
            <a:srgbClr val="2C438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linda · raro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· EVOLUÇÃO E CONCEITOS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chatbot a agente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266317"/>
            <a:ext cx="3044984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522221"/>
            <a:ext cx="260916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880" y="2933700"/>
            <a:ext cx="260916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Você pergunta, ele responde</a:t>
            </a:r>
            <a:endParaRPr lang="en-US" sz="16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6534" y="2885442"/>
            <a:ext cx="4064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8509" y="2266317"/>
            <a:ext cx="3045063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4414" y="2522221"/>
            <a:ext cx="26092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34414" y="2933700"/>
            <a:ext cx="2609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Sugere enquanto você trabalha</a:t>
            </a:r>
            <a:endParaRPr lang="en-US" sz="16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9147" y="2885442"/>
            <a:ext cx="406400" cy="254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37947" y="2125979"/>
            <a:ext cx="3041253" cy="1772920"/>
          </a:xfrm>
          <a:prstGeom prst="roundRect">
            <a:avLst>
              <a:gd name="adj" fmla="val 5731"/>
            </a:avLst>
          </a:prstGeom>
          <a:solidFill>
            <a:srgbClr val="14285A"/>
          </a:solidFill>
          <a:ln/>
        </p:spPr>
      </p:sp>
      <p:sp>
        <p:nvSpPr>
          <p:cNvPr id="14" name="Text 10"/>
          <p:cNvSpPr/>
          <p:nvPr/>
        </p:nvSpPr>
        <p:spPr>
          <a:xfrm>
            <a:off x="8591947" y="2379979"/>
            <a:ext cx="26092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591947" y="2791464"/>
            <a:ext cx="2609251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Recebe um objetivo, planeja, usa ferramentas e executa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2800" y="4254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Daqui a pouco vocês vão ver um agente trabalhando ao vivo: o </a:t>
            </a: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Claude Code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4022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ENGENHARIA DE PROMPT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58392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mesma IA. Respostas muito diferentes.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263392"/>
            <a:ext cx="9156700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Engenharia de prompt é a habilidade de pedir bem: dar à IA o contexto e as instruções de que ela precisa.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ENGENHARIA DE PROMPT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de um bom prompt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29154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258064"/>
            <a:ext cx="20929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Papel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48000" y="2311400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Quem a IA deve 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53200" y="2346964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"Você é um professor de banco de dados."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779396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908300"/>
            <a:ext cx="20929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48000" y="2961642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sua situação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3200" y="299720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"Sou aluno do 2º semestre de ADS."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429639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558542"/>
            <a:ext cx="20929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Tarefa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48000" y="3611879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que ela deve fazer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200" y="3647442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"Explique o que é normalização."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079875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208779"/>
            <a:ext cx="20929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48000" y="4262121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Como quer a resposta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3200" y="4297679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"Use um exemplo e uma tabela."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730117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800" y="5379088"/>
            <a:ext cx="1056640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859021"/>
            <a:ext cx="20929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Restrições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048000" y="4912364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que evitar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3200" y="4947921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"Sem jargão, em até 10 linhas."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ENGENHARIA DE PROMPT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e depois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4"/>
            <a:ext cx="4159250" cy="2279650"/>
          </a:xfrm>
          <a:prstGeom prst="roundRect">
            <a:avLst>
              <a:gd name="adj" fmla="val 431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4"/>
            <a:ext cx="37568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VAGO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2750821"/>
            <a:ext cx="37568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 explica normalização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1880" y="3597275"/>
            <a:ext cx="3647440" cy="0"/>
          </a:xfrm>
          <a:prstGeom prst="line">
            <a:avLst/>
          </a:prstGeom>
          <a:noFill/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1880" y="3726180"/>
            <a:ext cx="375686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Resultado: resposta genérica, longa e cheia de termos técnicos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30800" y="2125979"/>
            <a:ext cx="6248400" cy="2286000"/>
          </a:xfrm>
          <a:prstGeom prst="roundRect">
            <a:avLst>
              <a:gd name="adj" fmla="val 4444"/>
            </a:avLst>
          </a:prstGeom>
          <a:solidFill>
            <a:srgbClr val="14285A"/>
          </a:solidFill>
          <a:ln/>
        </p:spPr>
      </p:sp>
      <p:sp>
        <p:nvSpPr>
          <p:cNvPr id="11" name="Text 9"/>
          <p:cNvSpPr/>
          <p:nvPr/>
        </p:nvSpPr>
        <p:spPr>
          <a:xfrm>
            <a:off x="5384800" y="2379979"/>
            <a:ext cx="5912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ESTRUTURADO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84800" y="2745742"/>
            <a:ext cx="591261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BF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Você é um professor de banco de dados. Sou aluno do 2º semestre de ADS e tenho prova na sexta. Explique o que é normalização, mostrando uma tabela antes e depois da 1FN, 2FN e 3FN. Use linguagem simples e no máximo 15 linhas.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4800" y="3815717"/>
            <a:ext cx="5740400" cy="0"/>
          </a:xfrm>
          <a:prstGeom prst="line">
            <a:avLst/>
          </a:prstGeom>
          <a:noFill/>
          <a:ln w="6350">
            <a:solidFill>
              <a:srgbClr val="2C43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4800" y="3944622"/>
            <a:ext cx="5912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Resultado: resposta no seu nível, com exemplo e no formato que você pediu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ENGENHARIA DE PROMPT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técnicas que funcionam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54"/>
            <a:ext cx="5200650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64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Dê exemplos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880" y="2796542"/>
            <a:ext cx="48295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Mostre um ou dois modelos do que você quer (few-shot)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5375" y="2129154"/>
            <a:ext cx="5200650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280" y="2385064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Peça passo a passo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31280" y="2796542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Pedir o raciocínio antes da resposta reduz erros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975" y="3780154"/>
            <a:ext cx="5200650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1880" y="4036064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Divida a tarefa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1880" y="4447542"/>
            <a:ext cx="48295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sistema inteiro de uma vez dá errado; parte por parte dá certo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5375" y="3780154"/>
            <a:ext cx="5200650" cy="1492250"/>
          </a:xfrm>
          <a:prstGeom prst="roundRect">
            <a:avLst>
              <a:gd name="adj" fmla="val 6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1280" y="4036064"/>
            <a:ext cx="48295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Converse e itere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1280" y="4447542"/>
            <a:ext cx="482950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primeira resposta é um rascunho: peça ajustes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· FERRAMENTAS DE 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ferramenta para cada trabalho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7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36139"/>
          <a:ext cx="10556240" cy="2621280"/>
        </p:xfrm>
        <a:graphic>
          <a:graphicData uri="http://schemas.openxmlformats.org/drawingml/2006/table">
            <a:tbl>
              <a:tblPr/>
              <a:tblGrid>
                <a:gridCol w="2322373"/>
                <a:gridCol w="4539183"/>
                <a:gridCol w="3694684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85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Categoria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85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Exemplos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85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Para quê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Conversa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ChatGPT, Claude, Gemini, Copilot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Estudar, escrever, tirar dúvidas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Código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Claude Code, GitHub Copilot, Cursor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Programar, revisar, testar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Imagem e vídeo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Midjourney, Sora, Veo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Criar peças visuais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Dados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Copilot no Excel e Power BI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Analisar e criar gráficos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A0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Automação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n8n, Zapier, Make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56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Conectar sistemas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Os nomes mudam rápido. Saber escolher a ferramenta certa para cada tarefa é o que fica.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· FERRAMENTAS DE 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os desenvolvedores dizem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3414157" cy="1944370"/>
          </a:xfrm>
          <a:prstGeom prst="roundRect">
            <a:avLst>
              <a:gd name="adj" fmla="val 5062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58"/>
            <a:ext cx="298941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71880" y="32486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usam ou planejam usar IA no trabalho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882" y="2129160"/>
            <a:ext cx="3414157" cy="1944370"/>
          </a:xfrm>
          <a:prstGeom prst="roundRect">
            <a:avLst>
              <a:gd name="adj" fmla="val 5062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4787" y="2385058"/>
            <a:ext cx="298941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44787" y="32486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não confiam na precisão das respostas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61789" y="2129160"/>
            <a:ext cx="3414157" cy="1944370"/>
          </a:xfrm>
          <a:prstGeom prst="roundRect">
            <a:avLst>
              <a:gd name="adj" fmla="val 5062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7694" y="2385058"/>
            <a:ext cx="298941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17694" y="32486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dizem que depurar código gerado por IA toma tempo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4323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uso cresce, a confiança cai. Quem sabe revisar vale mais.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Fonte: Stack Overflow Developer Survey 2025, mais de 49 mil respondentes em 177 países.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 · IA NO DIA A DIA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que você não vê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385058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8422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Streaming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recomenda a próxima série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8882" y="2129160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4787" y="2385058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4787" y="28422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GPS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prevê o trânsito e muda a rota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61789" y="2129160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2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694" y="2385058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17694" y="2842258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Banco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bloqueia compras suspeitas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5975" y="3825875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5" name="Image 3" descr="PaperPla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1880" y="4081785"/>
            <a:ext cx="355600" cy="355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1880" y="4538985"/>
            <a:ext cx="298941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E-mail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separa o spam sozinho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4388882" y="3825875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8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44787" y="4081785"/>
            <a:ext cx="355600" cy="355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44787" y="4538985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Celular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reconhece seu rosto e melhora fotos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7961789" y="3825875"/>
            <a:ext cx="3414157" cy="1537970"/>
          </a:xfrm>
          <a:prstGeom prst="roundRect">
            <a:avLst>
              <a:gd name="adj" fmla="val 6400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21" name="Image 5" descr="Cha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17694" y="4081785"/>
            <a:ext cx="355600" cy="355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17694" y="4538985"/>
            <a:ext cx="29894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Teclado</a:t>
            </a: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corrige e sugere palavras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 · IA NO DIA A DIA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meu dia a dia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3414157" cy="2736850"/>
          </a:xfrm>
          <a:prstGeom prst="roundRect">
            <a:avLst>
              <a:gd name="adj" fmla="val 3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Exemplo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2700027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Tuning de SQL legado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1880" y="3472185"/>
            <a:ext cx="2989417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Consultas antigas, que já estavam lá quando cheguei, reescritas para rodar mais rápido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8882" y="2129160"/>
            <a:ext cx="3414157" cy="2736850"/>
          </a:xfrm>
          <a:prstGeom prst="roundRect">
            <a:avLst>
              <a:gd name="adj" fmla="val 3596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4787" y="23850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A0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Exemplo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4787" y="2700027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Painéis no Qlik Sense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4787" y="3472185"/>
            <a:ext cx="298941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Expressões, scripts de carga e investigação de números que não batem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58614" y="2125985"/>
            <a:ext cx="3420507" cy="2743200"/>
          </a:xfrm>
          <a:prstGeom prst="roundRect">
            <a:avLst>
              <a:gd name="adj" fmla="val 3704"/>
            </a:avLst>
          </a:prstGeom>
          <a:solidFill>
            <a:srgbClr val="1428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12614" y="2379985"/>
            <a:ext cx="29998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6A2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Exemplo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12614" y="2694942"/>
            <a:ext cx="299988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 palestra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12614" y="3131827"/>
            <a:ext cx="299988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Roteiro, pesquisa, slides e bônus feitos com IA. As decisões foram minhas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· HANDS-ON COM CLAUDE CODE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portfólio ao vivo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3414157" cy="1471930"/>
          </a:xfrm>
          <a:prstGeom prst="roundRect">
            <a:avLst>
              <a:gd name="adj" fmla="val 6687"/>
            </a:avLst>
          </a:prstGeom>
          <a:solidFill>
            <a:srgbClr val="1E3570"/>
          </a:solidFill>
          <a:ln w="6350">
            <a:solidFill>
              <a:srgbClr val="2C4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3850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6A2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Rodada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2674627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vago x prompt bom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8882" y="2129160"/>
            <a:ext cx="3414157" cy="1471930"/>
          </a:xfrm>
          <a:prstGeom prst="roundRect">
            <a:avLst>
              <a:gd name="adj" fmla="val 6687"/>
            </a:avLst>
          </a:prstGeom>
          <a:solidFill>
            <a:srgbClr val="1E3570"/>
          </a:solidFill>
          <a:ln w="6350">
            <a:solidFill>
              <a:srgbClr val="2C43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4787" y="23850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6A2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Rodada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4787" y="2674627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portfólio de um voluntário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61789" y="2129160"/>
            <a:ext cx="3414157" cy="1471930"/>
          </a:xfrm>
          <a:prstGeom prst="roundRect">
            <a:avLst>
              <a:gd name="adj" fmla="val 6687"/>
            </a:avLst>
          </a:prstGeom>
          <a:solidFill>
            <a:srgbClr val="1E3570"/>
          </a:solidFill>
          <a:ln w="6350">
            <a:solidFill>
              <a:srgbClr val="2C4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7694" y="23850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6A2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Rodada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7694" y="2674627"/>
            <a:ext cx="298941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turma é o cliente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2800" y="4010658"/>
            <a:ext cx="7870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Lembrete: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99803" y="3959858"/>
            <a:ext cx="642620" cy="31496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Papel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44023" y="3959858"/>
            <a:ext cx="872966" cy="31496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8589" y="3959858"/>
            <a:ext cx="680244" cy="31496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Tarefa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00433" y="3959858"/>
            <a:ext cx="822484" cy="31496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4517" y="3959858"/>
            <a:ext cx="959247" cy="31496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Restrições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6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· HANDS-ON · RODADA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Procura-se um voluntário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186944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4285A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26314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</a:t>
            </a: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Seu primeiro nome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27813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</a:t>
            </a: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Em que semestre você está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329945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</a:t>
            </a: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Três coisas que você sabe ou gosta em tecnologia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3817627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4.</a:t>
            </a: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Um hobby fora da tecnologia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 · VANTAGENS X DESVANTAGENS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Poder e responsabilidade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5200650" cy="2792730"/>
          </a:xfrm>
          <a:prstGeom prst="roundRect">
            <a:avLst>
              <a:gd name="adj" fmla="val 352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40030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8280" y="2385058"/>
            <a:ext cx="187423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24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5888" y="2847342"/>
            <a:ext cx="4757877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Produtividade em tarefas repetitivas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tutor disponível 24 horas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Acessibilidade: voz, tradução, leitura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Protótipos em minutos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Apoio para analisar dados e decidir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2125985"/>
            <a:ext cx="5207000" cy="2799080"/>
          </a:xfrm>
          <a:prstGeom prst="roundRect">
            <a:avLst>
              <a:gd name="adj" fmla="val 3630"/>
            </a:avLst>
          </a:prstGeom>
          <a:solidFill>
            <a:srgbClr val="14285A"/>
          </a:solidFill>
          <a:ln/>
        </p:spPr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26200" y="2395227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2600" y="2379985"/>
            <a:ext cx="111890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90208" y="2842258"/>
            <a:ext cx="4768342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Alucinação: erra com confiança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Viés herdado dos dados de treino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Privacidade e LGPD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Dependência: parar de aprender a base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Alto consumo de energia e água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Mudança em funções e vagas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882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REGRA DE OURO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6983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escreve. A responsabilidade é sua.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51983"/>
            <a:ext cx="915670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Revise, teste e entenda tudo o que for para produção.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 · E A SUA CARREIRA?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mercado está mudando, não acabando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078360"/>
            <a:ext cx="3414157" cy="1441450"/>
          </a:xfrm>
          <a:prstGeom prst="roundRect">
            <a:avLst>
              <a:gd name="adj" fmla="val 682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283458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Mundo, até 2030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1080" y="2547627"/>
            <a:ext cx="309406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170 mi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1080" y="310134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novos empregos criados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82" y="2078360"/>
            <a:ext cx="3414157" cy="1441450"/>
          </a:xfrm>
          <a:prstGeom prst="roundRect">
            <a:avLst>
              <a:gd name="adj" fmla="val 682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987" y="2283458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Mundo, até 2030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3987" y="2547627"/>
            <a:ext cx="309406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 mi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93987" y="310134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empregos eliminados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614" y="2075185"/>
            <a:ext cx="3420507" cy="1447800"/>
          </a:xfrm>
          <a:prstGeom prst="roundRect">
            <a:avLst>
              <a:gd name="adj" fmla="val 7018"/>
            </a:avLst>
          </a:prstGeom>
          <a:solidFill>
            <a:srgbClr val="14285A"/>
          </a:solidFill>
          <a:ln/>
        </p:spPr>
      </p:sp>
      <p:sp>
        <p:nvSpPr>
          <p:cNvPr id="14" name="Text 12"/>
          <p:cNvSpPr/>
          <p:nvPr/>
        </p:nvSpPr>
        <p:spPr>
          <a:xfrm>
            <a:off x="8161814" y="2278385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Mundo, até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1814" y="2542542"/>
            <a:ext cx="310453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+78 mi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161814" y="3096258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saldo positivo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975" y="3678560"/>
            <a:ext cx="3414157" cy="1441450"/>
          </a:xfrm>
          <a:prstGeom prst="roundRect">
            <a:avLst>
              <a:gd name="adj" fmla="val 682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080" y="3883658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Mundo, até 2030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1080" y="4147827"/>
            <a:ext cx="309406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21080" y="470154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das habilidades exigidas vão mudar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8882" y="3678560"/>
            <a:ext cx="3414157" cy="1441450"/>
          </a:xfrm>
          <a:prstGeom prst="roundRect">
            <a:avLst>
              <a:gd name="adj" fmla="val 682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3987" y="3883658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Profissionais de TI no Brasil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3987" y="4147827"/>
            <a:ext cx="309406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93987" y="470154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já usam IA no trabalho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61789" y="3678560"/>
            <a:ext cx="3414157" cy="1441450"/>
          </a:xfrm>
          <a:prstGeom prst="roundRect">
            <a:avLst>
              <a:gd name="adj" fmla="val 682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6894" y="3883658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Profissionais de TI no Brasil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66894" y="4147827"/>
            <a:ext cx="309406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166894" y="470154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não veem a IA como ameaça ao emprego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Fontes: Fórum Econômico Mundial, Future of Jobs Report 2025 · Michael Page, Talent Trends Tech 2025.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 · E A SUA CARREIRA?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se preparar a partir de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3228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Shape 3"/>
          <p:cNvSpPr/>
          <p:nvPr/>
        </p:nvSpPr>
        <p:spPr>
          <a:xfrm>
            <a:off x="815975" y="2129160"/>
            <a:ext cx="2520950" cy="2594610"/>
          </a:xfrm>
          <a:prstGeom prst="roundRect">
            <a:avLst>
              <a:gd name="adj" fmla="val 390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385058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842258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sólida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1880" y="3279142"/>
            <a:ext cx="20694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Lógica, SQL, estruturas de dados e arquitetura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95675" y="2129160"/>
            <a:ext cx="2520950" cy="2594610"/>
          </a:xfrm>
          <a:prstGeom prst="roundRect">
            <a:avLst>
              <a:gd name="adj" fmla="val 390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0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51580" y="2385058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1580" y="2842258"/>
            <a:ext cx="226187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bem usada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751580" y="3279142"/>
            <a:ext cx="20694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Prompts claros, revisão de código e senso crítico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75375" y="2129160"/>
            <a:ext cx="2520950" cy="2594610"/>
          </a:xfrm>
          <a:prstGeom prst="roundRect">
            <a:avLst>
              <a:gd name="adj" fmla="val 390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4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31280" y="2385058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1280" y="2842258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Portfólio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431280" y="3279142"/>
            <a:ext cx="20694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Projetos reais no GitHub, com README e no ar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855075" y="2129160"/>
            <a:ext cx="2520950" cy="2594610"/>
          </a:xfrm>
          <a:prstGeom prst="roundRect">
            <a:avLst>
              <a:gd name="adj" fmla="val 3904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18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10980" y="2385058"/>
            <a:ext cx="355600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0980" y="2842258"/>
            <a:ext cx="2069414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Lado humano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110980" y="3614427"/>
            <a:ext cx="20694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Comunicação, entender o negócio e ética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6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87910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00" kern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Seja o profissional que pilota a IA.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192910"/>
            <a:ext cx="915670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IA é o motor. O destino quem escolhe é você.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58950"/>
            <a:ext cx="6059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 · BÔNUS PARA VOCÊS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75508"/>
            <a:ext cx="6059119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8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Biblioteca de Prompts para estudar ADS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33845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25850"/>
            <a:ext cx="60591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27 prompts prontos para entender a matéria, praticar, programar melhor, estudar banco de dados e preparar a carreira.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398008"/>
            <a:ext cx="605911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8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Aponte a câmera do celular para o QR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885692"/>
            <a:ext cx="6059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gabriel-ribaraujosds.github.io/biblioteca-prompts-ads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08215" y="1395102"/>
            <a:ext cx="4067810" cy="4067810"/>
          </a:xfrm>
          <a:prstGeom prst="roundRect">
            <a:avLst>
              <a:gd name="adj" fmla="val 3668"/>
            </a:avLst>
          </a:prstGeom>
          <a:solidFill>
            <a:srgbClr val="FEFEFF"/>
          </a:solidFill>
          <a:ln w="6350">
            <a:solidFill>
              <a:srgbClr val="DFE3EC"/>
            </a:solidFill>
            <a:prstDash val="solid"/>
          </a:ln>
        </p:spPr>
      </p:sp>
      <p:pic>
        <p:nvPicPr>
          <p:cNvPr id="9" name="Image 0" descr="QR code que abre a Biblioteca de Prompts para estudar AD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4120" y="1651000"/>
            <a:ext cx="3556000" cy="355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84650" y="3556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3A4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os decorativos nas cores do congres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9000" y="1397000"/>
            <a:ext cx="4064000" cy="406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909960"/>
            <a:ext cx="508000" cy="19050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4" name="Text 1"/>
          <p:cNvSpPr/>
          <p:nvPr/>
        </p:nvSpPr>
        <p:spPr>
          <a:xfrm>
            <a:off x="1473200" y="812800"/>
            <a:ext cx="710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IV CONGRESSO CIENTÍFICO · ANHANGUERA ASA NORTE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29743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AF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3249935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6A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12800" y="516128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BF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Mediador Pedagógico Gabriel Ribeiro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54965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CD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Engenheiro de Dados &amp; Fullstack | Python · IA · RPA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576072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F26A2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linkedin.com/in/gabrielscientist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: de onde veio, onde está e para onde leva a sua carreira">
  <a:themeElements>
    <a:clrScheme name="IA: de onde veio, onde está e para onde leva a sua carreira">
      <a:dk1>
        <a:srgbClr val="14285A"/>
      </a:dk1>
      <a:lt1>
        <a:srgbClr val="FAFBFD"/>
      </a:lt1>
      <a:dk2>
        <a:srgbClr val="4E5D83"/>
      </a:dk2>
      <a:lt2>
        <a:srgbClr val="E3E6ED"/>
      </a:lt2>
      <a:accent1>
        <a:srgbClr val="3A4568"/>
      </a:accent1>
      <a:accent2>
        <a:srgbClr val="C24A0C"/>
      </a:accent2>
      <a:accent3>
        <a:srgbClr val="F26A21"/>
      </a:accent3>
      <a:accent4>
        <a:srgbClr val="2C4380"/>
      </a:accent4>
      <a:accent5>
        <a:srgbClr val="FFD9C2"/>
      </a:accent5>
      <a:accent6>
        <a:srgbClr val="F9A774"/>
      </a:accent6>
      <a:hlink>
        <a:srgbClr val="0563C1"/>
      </a:hlink>
      <a:folHlink>
        <a:srgbClr val="954F72"/>
      </a:folHlink>
    </a:clrScheme>
    <a:fontScheme name="IA: de onde veio, onde está e para onde leva a sua carreir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IA: de onde veio, onde está e para onde leva a sua carreira</dc:title>
  <dc:subject/>
  <dc:creator/>
  <cp:lastModifiedBy/>
  <cp:revision>1</cp:revision>
  <dcterms:created xsi:type="dcterms:W3CDTF">2026-10-04T16:48:04Z</dcterms:created>
  <dcterms:modified xsi:type="dcterms:W3CDTF">2026-10-04T16:48:04Z</dcterms:modified>
</cp:coreProperties>
</file>